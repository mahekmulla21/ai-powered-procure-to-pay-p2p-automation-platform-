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8" r:id="rId6"/>
    <p:sldId id="277" r:id="rId7"/>
    <p:sldId id="278" r:id="rId8"/>
    <p:sldId id="261" r:id="rId9"/>
    <p:sldId id="268" r:id="rId1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package" Target="../embeddings/Document5.docx"/><Relationship Id="rId8" Type="http://schemas.openxmlformats.org/officeDocument/2006/relationships/image" Target="../media/image6.wmf"/><Relationship Id="rId7" Type="http://schemas.openxmlformats.org/officeDocument/2006/relationships/package" Target="../embeddings/Document4.docx"/><Relationship Id="rId6" Type="http://schemas.openxmlformats.org/officeDocument/2006/relationships/image" Target="../media/image5.wmf"/><Relationship Id="rId5" Type="http://schemas.openxmlformats.org/officeDocument/2006/relationships/package" Target="../embeddings/Document3.docx"/><Relationship Id="rId4" Type="http://schemas.openxmlformats.org/officeDocument/2006/relationships/image" Target="../media/image4.wmf"/><Relationship Id="rId3" Type="http://schemas.openxmlformats.org/officeDocument/2006/relationships/package" Target="../embeddings/Document2.docx"/><Relationship Id="rId2" Type="http://schemas.openxmlformats.org/officeDocument/2006/relationships/image" Target="../media/image3.wmf"/><Relationship Id="rId13" Type="http://schemas.openxmlformats.org/officeDocument/2006/relationships/notesSlide" Target="../notesSlides/notesSlide3.xml"/><Relationship Id="rId12" Type="http://schemas.openxmlformats.org/officeDocument/2006/relationships/vmlDrawing" Target="../drawings/vmlDrawing1.vml"/><Relationship Id="rId11" Type="http://schemas.openxmlformats.org/officeDocument/2006/relationships/slideLayout" Target="../slideLayouts/slideLayout1.xml"/><Relationship Id="rId10" Type="http://schemas.openxmlformats.org/officeDocument/2006/relationships/image" Target="../media/image7.wmf"/><Relationship Id="rId1" Type="http://schemas.openxmlformats.org/officeDocument/2006/relationships/package" Target="../embeddings/Document1.docx"/></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39C12"/>
          </a:solidFill>
        </p:spPr>
      </p:sp>
      <p:sp>
        <p:nvSpPr>
          <p:cNvPr id="3" name="Shape 1"/>
          <p:cNvSpPr/>
          <p:nvPr/>
        </p:nvSpPr>
        <p:spPr>
          <a:xfrm>
            <a:off x="0" y="73152"/>
            <a:ext cx="320040" cy="5070348"/>
          </a:xfrm>
          <a:prstGeom prst="rect">
            <a:avLst/>
          </a:prstGeom>
          <a:solidFill>
            <a:srgbClr val="1B4F72"/>
          </a:solidFill>
        </p:spPr>
      </p:sp>
      <p:sp>
        <p:nvSpPr>
          <p:cNvPr id="4" name="Text 2"/>
          <p:cNvSpPr/>
          <p:nvPr/>
        </p:nvSpPr>
        <p:spPr>
          <a:xfrm>
            <a:off x="502920" y="365760"/>
            <a:ext cx="3657600" cy="365760"/>
          </a:xfrm>
          <a:prstGeom prst="rect">
            <a:avLst/>
          </a:prstGeom>
          <a:noFill/>
        </p:spPr>
        <p:txBody>
          <a:bodyPr wrap="square" lIns="0" tIns="0" rIns="0" bIns="0" rtlCol="0" anchor="ctr"/>
          <a:lstStyle/>
          <a:p>
            <a:pPr marL="0" indent="0">
              <a:buNone/>
            </a:pPr>
            <a:r>
              <a:rPr lang="en-US" sz="1000" b="1" kern="0" spc="500" dirty="0">
                <a:solidFill>
                  <a:srgbClr val="F39C12"/>
                </a:solidFill>
              </a:rPr>
              <a:t>CLEARVIEW</a:t>
            </a:r>
            <a:endParaRPr lang="en-US" sz="1000" dirty="0"/>
          </a:p>
        </p:txBody>
      </p:sp>
      <p:sp>
        <p:nvSpPr>
          <p:cNvPr id="5" name="Text 3"/>
          <p:cNvSpPr/>
          <p:nvPr/>
        </p:nvSpPr>
        <p:spPr>
          <a:xfrm>
            <a:off x="502920" y="822960"/>
            <a:ext cx="8229600" cy="1097280"/>
          </a:xfrm>
          <a:prstGeom prst="rect">
            <a:avLst/>
          </a:prstGeom>
          <a:noFill/>
        </p:spPr>
        <p:txBody>
          <a:bodyPr wrap="square" lIns="0" tIns="0" rIns="0" bIns="0" rtlCol="0" anchor="ctr"/>
          <a:lstStyle/>
          <a:p>
            <a:pPr marL="0" indent="0">
              <a:buNone/>
            </a:pPr>
            <a:r>
              <a:rPr lang="en-US" sz="4000" b="1" dirty="0">
                <a:solidFill>
                  <a:srgbClr val="FFFFFF"/>
                </a:solidFill>
              </a:rPr>
              <a:t>P2P Invoice Reconciliation</a:t>
            </a:r>
            <a:endParaRPr lang="en-US" sz="4000" dirty="0"/>
          </a:p>
        </p:txBody>
      </p:sp>
      <p:sp>
        <p:nvSpPr>
          <p:cNvPr id="6" name="Text 4"/>
          <p:cNvSpPr/>
          <p:nvPr/>
        </p:nvSpPr>
        <p:spPr>
          <a:xfrm>
            <a:off x="502920" y="1965960"/>
            <a:ext cx="7772400" cy="502920"/>
          </a:xfrm>
          <a:prstGeom prst="rect">
            <a:avLst/>
          </a:prstGeom>
          <a:noFill/>
        </p:spPr>
        <p:txBody>
          <a:bodyPr wrap="square" lIns="0" tIns="0" rIns="0" bIns="0" rtlCol="0" anchor="ctr"/>
          <a:lstStyle/>
          <a:p>
            <a:pPr marL="0" indent="0">
              <a:buNone/>
            </a:pPr>
            <a:r>
              <a:rPr lang="en-US" sz="1800" i="1" dirty="0">
                <a:solidFill>
                  <a:srgbClr val="AED6F1"/>
                </a:solidFill>
              </a:rPr>
              <a:t>Intelligent AI-Powered Procure-to-Pay Automation</a:t>
            </a:r>
            <a:endParaRPr lang="en-US" sz="1800" dirty="0"/>
          </a:p>
        </p:txBody>
      </p:sp>
      <p:sp>
        <p:nvSpPr>
          <p:cNvPr id="7" name="Shape 5"/>
          <p:cNvSpPr/>
          <p:nvPr/>
        </p:nvSpPr>
        <p:spPr>
          <a:xfrm>
            <a:off x="502920" y="2578608"/>
            <a:ext cx="7772400" cy="0"/>
          </a:xfrm>
          <a:prstGeom prst="line">
            <a:avLst/>
          </a:prstGeom>
          <a:noFill/>
          <a:ln w="25400">
            <a:solidFill>
              <a:srgbClr val="F39C12"/>
            </a:solidFill>
            <a:prstDash val="solid"/>
          </a:ln>
        </p:spPr>
      </p:sp>
      <p:sp>
        <p:nvSpPr>
          <p:cNvPr id="8" name="Shape 6"/>
          <p:cNvSpPr/>
          <p:nvPr/>
        </p:nvSpPr>
        <p:spPr>
          <a:xfrm>
            <a:off x="502920" y="2715768"/>
            <a:ext cx="1600200" cy="292608"/>
          </a:xfrm>
          <a:prstGeom prst="roundRect">
            <a:avLst>
              <a:gd name="adj" fmla="val 15625"/>
            </a:avLst>
          </a:prstGeom>
          <a:solidFill>
            <a:srgbClr val="1B4F72"/>
          </a:solidFill>
        </p:spPr>
      </p:sp>
      <p:sp>
        <p:nvSpPr>
          <p:cNvPr id="9" name="Text 7"/>
          <p:cNvSpPr/>
          <p:nvPr/>
        </p:nvSpPr>
        <p:spPr>
          <a:xfrm>
            <a:off x="502920" y="2715768"/>
            <a:ext cx="1600200" cy="292608"/>
          </a:xfrm>
          <a:prstGeom prst="rect">
            <a:avLst/>
          </a:prstGeom>
          <a:noFill/>
        </p:spPr>
        <p:txBody>
          <a:bodyPr wrap="square" lIns="0" tIns="0" rIns="0" bIns="0" rtlCol="0" anchor="ctr"/>
          <a:lstStyle/>
          <a:p>
            <a:pPr marL="0" indent="0" algn="ctr">
              <a:buNone/>
            </a:pPr>
            <a:r>
              <a:rPr lang="en-US" sz="900" dirty="0">
                <a:solidFill>
                  <a:srgbClr val="AED6F1"/>
                </a:solidFill>
              </a:rPr>
              <a:t>Multi-Modal AI</a:t>
            </a:r>
            <a:endParaRPr lang="en-US" sz="900" dirty="0"/>
          </a:p>
        </p:txBody>
      </p:sp>
      <p:sp>
        <p:nvSpPr>
          <p:cNvPr id="10" name="Shape 8"/>
          <p:cNvSpPr/>
          <p:nvPr/>
        </p:nvSpPr>
        <p:spPr>
          <a:xfrm>
            <a:off x="2221992" y="2715768"/>
            <a:ext cx="1600200" cy="292608"/>
          </a:xfrm>
          <a:prstGeom prst="roundRect">
            <a:avLst>
              <a:gd name="adj" fmla="val 15625"/>
            </a:avLst>
          </a:prstGeom>
          <a:solidFill>
            <a:srgbClr val="1B4F72"/>
          </a:solidFill>
        </p:spPr>
      </p:sp>
      <p:sp>
        <p:nvSpPr>
          <p:cNvPr id="11" name="Text 9"/>
          <p:cNvSpPr/>
          <p:nvPr/>
        </p:nvSpPr>
        <p:spPr>
          <a:xfrm>
            <a:off x="2221992" y="2715768"/>
            <a:ext cx="1600200" cy="292608"/>
          </a:xfrm>
          <a:prstGeom prst="rect">
            <a:avLst/>
          </a:prstGeom>
          <a:noFill/>
        </p:spPr>
        <p:txBody>
          <a:bodyPr wrap="square" lIns="0" tIns="0" rIns="0" bIns="0" rtlCol="0" anchor="ctr"/>
          <a:lstStyle/>
          <a:p>
            <a:pPr marL="0" indent="0" algn="ctr">
              <a:buNone/>
            </a:pPr>
            <a:r>
              <a:rPr lang="en-US" sz="900" dirty="0">
                <a:solidFill>
                  <a:srgbClr val="AED6F1"/>
                </a:solidFill>
              </a:rPr>
              <a:t>RAG Architecture</a:t>
            </a:r>
            <a:endParaRPr lang="en-US" sz="900" dirty="0"/>
          </a:p>
        </p:txBody>
      </p:sp>
      <p:sp>
        <p:nvSpPr>
          <p:cNvPr id="12" name="Shape 10"/>
          <p:cNvSpPr/>
          <p:nvPr/>
        </p:nvSpPr>
        <p:spPr>
          <a:xfrm>
            <a:off x="3941064" y="2715768"/>
            <a:ext cx="1600200" cy="292608"/>
          </a:xfrm>
          <a:prstGeom prst="roundRect">
            <a:avLst>
              <a:gd name="adj" fmla="val 15625"/>
            </a:avLst>
          </a:prstGeom>
          <a:solidFill>
            <a:srgbClr val="1B4F72"/>
          </a:solidFill>
        </p:spPr>
      </p:sp>
      <p:sp>
        <p:nvSpPr>
          <p:cNvPr id="13" name="Text 11"/>
          <p:cNvSpPr/>
          <p:nvPr/>
        </p:nvSpPr>
        <p:spPr>
          <a:xfrm>
            <a:off x="3941064" y="2715768"/>
            <a:ext cx="1600200" cy="292608"/>
          </a:xfrm>
          <a:prstGeom prst="rect">
            <a:avLst/>
          </a:prstGeom>
          <a:noFill/>
        </p:spPr>
        <p:txBody>
          <a:bodyPr wrap="square" lIns="0" tIns="0" rIns="0" bIns="0" rtlCol="0" anchor="ctr"/>
          <a:lstStyle/>
          <a:p>
            <a:pPr marL="0" indent="0" algn="ctr">
              <a:buNone/>
            </a:pPr>
            <a:r>
              <a:rPr lang="en-US" sz="900" dirty="0">
                <a:solidFill>
                  <a:srgbClr val="AED6F1"/>
                </a:solidFill>
              </a:rPr>
              <a:t>Neo4j Graph</a:t>
            </a:r>
            <a:endParaRPr lang="en-US" sz="900" dirty="0"/>
          </a:p>
        </p:txBody>
      </p:sp>
      <p:sp>
        <p:nvSpPr>
          <p:cNvPr id="14" name="Shape 12"/>
          <p:cNvSpPr/>
          <p:nvPr/>
        </p:nvSpPr>
        <p:spPr>
          <a:xfrm>
            <a:off x="5660136" y="2715768"/>
            <a:ext cx="1600200" cy="292608"/>
          </a:xfrm>
          <a:prstGeom prst="roundRect">
            <a:avLst>
              <a:gd name="adj" fmla="val 15625"/>
            </a:avLst>
          </a:prstGeom>
          <a:solidFill>
            <a:srgbClr val="1B4F72"/>
          </a:solidFill>
        </p:spPr>
      </p:sp>
      <p:sp>
        <p:nvSpPr>
          <p:cNvPr id="15" name="Text 13"/>
          <p:cNvSpPr/>
          <p:nvPr/>
        </p:nvSpPr>
        <p:spPr>
          <a:xfrm>
            <a:off x="5660136" y="2715768"/>
            <a:ext cx="1600200" cy="292608"/>
          </a:xfrm>
          <a:prstGeom prst="rect">
            <a:avLst/>
          </a:prstGeom>
          <a:noFill/>
        </p:spPr>
        <p:txBody>
          <a:bodyPr wrap="square" lIns="0" tIns="0" rIns="0" bIns="0" rtlCol="0" anchor="ctr"/>
          <a:lstStyle/>
          <a:p>
            <a:pPr marL="0" indent="0" algn="ctr">
              <a:buNone/>
            </a:pPr>
            <a:r>
              <a:rPr lang="en-US" sz="900" dirty="0">
                <a:solidFill>
                  <a:srgbClr val="AED6F1"/>
                </a:solidFill>
              </a:rPr>
              <a:t>LangChain Agents</a:t>
            </a:r>
            <a:endParaRPr lang="en-US" sz="900" dirty="0"/>
          </a:p>
        </p:txBody>
      </p:sp>
      <p:sp>
        <p:nvSpPr>
          <p:cNvPr id="16" name="Shape 14"/>
          <p:cNvSpPr/>
          <p:nvPr/>
        </p:nvSpPr>
        <p:spPr>
          <a:xfrm>
            <a:off x="7379208" y="2715768"/>
            <a:ext cx="1600200" cy="292608"/>
          </a:xfrm>
          <a:prstGeom prst="roundRect">
            <a:avLst>
              <a:gd name="adj" fmla="val 15625"/>
            </a:avLst>
          </a:prstGeom>
          <a:solidFill>
            <a:srgbClr val="1B4F72"/>
          </a:solidFill>
        </p:spPr>
      </p:sp>
      <p:sp>
        <p:nvSpPr>
          <p:cNvPr id="17" name="Text 15"/>
          <p:cNvSpPr/>
          <p:nvPr/>
        </p:nvSpPr>
        <p:spPr>
          <a:xfrm>
            <a:off x="7379208" y="2715768"/>
            <a:ext cx="1600200" cy="292608"/>
          </a:xfrm>
          <a:prstGeom prst="rect">
            <a:avLst/>
          </a:prstGeom>
          <a:noFill/>
        </p:spPr>
        <p:txBody>
          <a:bodyPr wrap="square" lIns="0" tIns="0" rIns="0" bIns="0" rtlCol="0" anchor="ctr"/>
          <a:lstStyle/>
          <a:p>
            <a:pPr marL="0" indent="0" algn="ctr">
              <a:buNone/>
            </a:pPr>
            <a:r>
              <a:rPr lang="en-US" sz="900" dirty="0">
                <a:solidFill>
                  <a:srgbClr val="AED6F1"/>
                </a:solidFill>
              </a:rPr>
              <a:t>FastAPI + React</a:t>
            </a:r>
            <a:endParaRPr lang="en-US" sz="900" dirty="0"/>
          </a:p>
        </p:txBody>
      </p:sp>
      <p:sp>
        <p:nvSpPr>
          <p:cNvPr id="18" name="Shape 16"/>
          <p:cNvSpPr/>
          <p:nvPr/>
        </p:nvSpPr>
        <p:spPr>
          <a:xfrm>
            <a:off x="502920" y="3703320"/>
            <a:ext cx="7772400" cy="914400"/>
          </a:xfrm>
          <a:prstGeom prst="rect">
            <a:avLst/>
          </a:prstGeom>
          <a:solidFill>
            <a:srgbClr val="1B4F72"/>
          </a:solidFill>
        </p:spPr>
      </p:sp>
      <p:sp>
        <p:nvSpPr>
          <p:cNvPr id="19" name="Text 17"/>
          <p:cNvSpPr/>
          <p:nvPr/>
        </p:nvSpPr>
        <p:spPr>
          <a:xfrm>
            <a:off x="594360" y="3886200"/>
            <a:ext cx="7498080" cy="457200"/>
          </a:xfrm>
          <a:prstGeom prst="rect">
            <a:avLst/>
          </a:prstGeom>
          <a:noFill/>
        </p:spPr>
        <p:txBody>
          <a:bodyPr wrap="square" lIns="0" tIns="0" rIns="0" bIns="0" rtlCol="0" anchor="ctr"/>
          <a:lstStyle/>
          <a:p>
            <a:pPr marL="0" indent="0">
              <a:buNone/>
            </a:pPr>
            <a:r>
              <a:rPr lang="en-US" sz="1200" b="1" dirty="0">
                <a:solidFill>
                  <a:srgbClr val="F39C12"/>
                </a:solidFill>
              </a:rPr>
              <a:t>Demo Presentation  </a:t>
            </a:r>
            <a:r>
              <a:rPr lang="en-US" sz="1200" dirty="0">
                <a:solidFill>
                  <a:srgbClr val="FFFFFF"/>
                </a:solidFill>
              </a:rPr>
              <a:t>│  Internal Architecture Walkthrough </a:t>
            </a:r>
            <a:endParaRPr lang="en-US" sz="1200" dirty="0"/>
          </a:p>
        </p:txBody>
      </p:sp>
      <p:sp>
        <p:nvSpPr>
          <p:cNvPr id="21" name="Shape 19"/>
          <p:cNvSpPr/>
          <p:nvPr/>
        </p:nvSpPr>
        <p:spPr>
          <a:xfrm>
            <a:off x="0" y="5070348"/>
            <a:ext cx="9144000" cy="73152"/>
          </a:xfrm>
          <a:prstGeom prst="rect">
            <a:avLst/>
          </a:prstGeom>
          <a:solidFill>
            <a:srgbClr val="F39C12"/>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22B21"/>
          </a:solidFill>
        </p:spPr>
      </p:sp>
      <p:sp>
        <p:nvSpPr>
          <p:cNvPr id="3" name="Text 1"/>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Problem Statement</a:t>
            </a:r>
            <a:endParaRPr lang="en-US" sz="2200" dirty="0"/>
          </a:p>
        </p:txBody>
      </p:sp>
      <p:sp>
        <p:nvSpPr>
          <p:cNvPr id="5" name="Shape 3"/>
          <p:cNvSpPr/>
          <p:nvPr/>
        </p:nvSpPr>
        <p:spPr>
          <a:xfrm>
            <a:off x="171450" y="984885"/>
            <a:ext cx="7844790" cy="1519555"/>
          </a:xfrm>
          <a:prstGeom prst="rect">
            <a:avLst/>
          </a:prstGeom>
          <a:solidFill>
            <a:srgbClr val="FFFFFF"/>
          </a:solidFill>
          <a:effectLst>
            <a:outerShdw blurRad="101600" dist="38100" dir="8100000" algn="bl" rotWithShape="0">
              <a:srgbClr val="000000">
                <a:alpha val="15000"/>
              </a:srgbClr>
            </a:outerShdw>
          </a:effectLst>
        </p:spPr>
      </p:sp>
      <p:sp>
        <p:nvSpPr>
          <p:cNvPr id="6" name="Shape 4"/>
          <p:cNvSpPr/>
          <p:nvPr/>
        </p:nvSpPr>
        <p:spPr>
          <a:xfrm>
            <a:off x="171450" y="984885"/>
            <a:ext cx="7877175" cy="229235"/>
          </a:xfrm>
          <a:prstGeom prst="rect">
            <a:avLst/>
          </a:prstGeom>
          <a:solidFill>
            <a:srgbClr val="922B21"/>
          </a:solidFill>
        </p:spPr>
      </p:sp>
      <p:sp>
        <p:nvSpPr>
          <p:cNvPr id="8" name="Text 6"/>
          <p:cNvSpPr/>
          <p:nvPr/>
        </p:nvSpPr>
        <p:spPr>
          <a:xfrm>
            <a:off x="228600" y="1214120"/>
            <a:ext cx="7511415" cy="1213485"/>
          </a:xfrm>
          <a:prstGeom prst="rect">
            <a:avLst/>
          </a:prstGeom>
          <a:noFill/>
        </p:spPr>
        <p:txBody>
          <a:bodyPr wrap="square" lIns="0" tIns="0" rIns="0" bIns="0" rtlCol="0" anchor="ctr"/>
          <a:lstStyle/>
          <a:p>
            <a:pPr marL="0" indent="0">
              <a:buNone/>
            </a:pPr>
            <a:r>
              <a:rPr lang="en-US" altLang="en-US" sz="1400" dirty="0"/>
              <a:t>Invoice processing in many organizations is slow and manual, with data coming from different formats and systems. Matching invoices with purchase orders and receipts often leads to errors, delays, and extra work. There is also limited visibility and tracking, making it hard to manage payments and audits efficiently.</a:t>
            </a:r>
            <a:endParaRPr lang="en-US" altLang="en-US" sz="1400" dirty="0"/>
          </a:p>
        </p:txBody>
      </p:sp>
      <p:sp>
        <p:nvSpPr>
          <p:cNvPr id="29" name="Shape 0"/>
          <p:cNvSpPr/>
          <p:nvPr/>
        </p:nvSpPr>
        <p:spPr>
          <a:xfrm>
            <a:off x="0" y="2637790"/>
            <a:ext cx="9144000" cy="640080"/>
          </a:xfrm>
          <a:prstGeom prst="rect">
            <a:avLst/>
          </a:prstGeom>
          <a:solidFill>
            <a:srgbClr val="117A65"/>
          </a:solidFill>
        </p:spPr>
      </p:sp>
      <p:sp>
        <p:nvSpPr>
          <p:cNvPr id="31" name="Text 1"/>
          <p:cNvSpPr/>
          <p:nvPr/>
        </p:nvSpPr>
        <p:spPr>
          <a:xfrm>
            <a:off x="171450" y="2729230"/>
            <a:ext cx="8229600" cy="457200"/>
          </a:xfrm>
          <a:prstGeom prst="rect">
            <a:avLst/>
          </a:prstGeom>
          <a:noFill/>
        </p:spPr>
        <p:txBody>
          <a:bodyPr wrap="square" lIns="0" tIns="0" rIns="0" bIns="0" rtlCol="0" anchor="ctr"/>
          <a:lstStyle/>
          <a:p>
            <a:pPr marL="0" indent="0">
              <a:buNone/>
            </a:pPr>
            <a:r>
              <a:rPr lang="en-US" sz="2200" b="1" dirty="0">
                <a:solidFill>
                  <a:srgbClr val="FFFFFF"/>
                </a:solidFill>
              </a:rPr>
              <a:t>Project Objectives</a:t>
            </a:r>
            <a:endParaRPr lang="en-US" sz="2200" dirty="0"/>
          </a:p>
        </p:txBody>
      </p:sp>
      <p:sp>
        <p:nvSpPr>
          <p:cNvPr id="32" name="Shape 3"/>
          <p:cNvSpPr/>
          <p:nvPr/>
        </p:nvSpPr>
        <p:spPr>
          <a:xfrm>
            <a:off x="228600" y="3344545"/>
            <a:ext cx="7844790" cy="1519555"/>
          </a:xfrm>
          <a:prstGeom prst="rect">
            <a:avLst/>
          </a:prstGeom>
          <a:solidFill>
            <a:srgbClr val="FFFFFF"/>
          </a:solidFill>
          <a:effectLst>
            <a:outerShdw blurRad="101600" dist="38100" dir="8100000" algn="bl" rotWithShape="0">
              <a:srgbClr val="000000">
                <a:alpha val="15000"/>
              </a:srgbClr>
            </a:outerShdw>
          </a:effectLst>
        </p:spPr>
      </p:sp>
      <p:sp>
        <p:nvSpPr>
          <p:cNvPr id="33" name="Shape 0"/>
          <p:cNvSpPr/>
          <p:nvPr/>
        </p:nvSpPr>
        <p:spPr>
          <a:xfrm>
            <a:off x="229235" y="3411220"/>
            <a:ext cx="7844155" cy="164465"/>
          </a:xfrm>
          <a:prstGeom prst="rect">
            <a:avLst/>
          </a:prstGeom>
          <a:solidFill>
            <a:srgbClr val="117A65"/>
          </a:solidFill>
        </p:spPr>
      </p:sp>
      <p:sp>
        <p:nvSpPr>
          <p:cNvPr id="34" name="Text 6"/>
          <p:cNvSpPr/>
          <p:nvPr/>
        </p:nvSpPr>
        <p:spPr>
          <a:xfrm>
            <a:off x="338455" y="3634105"/>
            <a:ext cx="7511415" cy="1213485"/>
          </a:xfrm>
          <a:prstGeom prst="rect">
            <a:avLst/>
          </a:prstGeom>
          <a:noFill/>
        </p:spPr>
        <p:txBody>
          <a:bodyPr wrap="square" lIns="0" tIns="0" rIns="0" bIns="0" rtlCol="0" anchor="ctr"/>
          <a:lstStyle/>
          <a:p>
            <a:pPr marL="0" indent="0">
              <a:buNone/>
            </a:pPr>
            <a:r>
              <a:rPr lang="en-US" altLang="en-US" sz="1400" dirty="0"/>
              <a:t>Create a simple, automated system that collects invoices from all sources and processes them in one place. Use intelligent automation to match, validate, and approve invoices with minimal manual effort. Provide clear tracking, faster processing, and better visibility for teams.</a:t>
            </a:r>
            <a:endParaRPr lang="en-US"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701040"/>
            <a:ext cx="9144000" cy="4664075"/>
          </a:xfrm>
          <a:prstGeom prst="rect">
            <a:avLst/>
          </a:prstGeom>
        </p:spPr>
      </p:pic>
      <p:sp>
        <p:nvSpPr>
          <p:cNvPr id="5" name="Shape 0"/>
          <p:cNvSpPr/>
          <p:nvPr/>
        </p:nvSpPr>
        <p:spPr>
          <a:xfrm>
            <a:off x="0" y="0"/>
            <a:ext cx="9144000" cy="640080"/>
          </a:xfrm>
          <a:prstGeom prst="rect">
            <a:avLst/>
          </a:prstGeom>
          <a:solidFill>
            <a:srgbClr val="922B21"/>
          </a:solidFill>
        </p:spPr>
        <p:txBody>
          <a:bodyPr/>
          <a:p>
            <a:r>
              <a:rPr lang="en-US" b="1" dirty="0">
                <a:solidFill>
                  <a:srgbClr val="FFFFFF"/>
                </a:solidFill>
                <a:sym typeface="+mn-ea"/>
              </a:rPr>
              <a:t> </a:t>
            </a:r>
            <a:endParaRPr lang="en-US" dirty="0"/>
          </a:p>
          <a:p>
            <a:endParaRPr lang="en-US"/>
          </a:p>
        </p:txBody>
      </p:sp>
      <p:sp>
        <p:nvSpPr>
          <p:cNvPr id="6" name="Text 1"/>
          <p:cNvSpPr/>
          <p:nvPr/>
        </p:nvSpPr>
        <p:spPr>
          <a:xfrm>
            <a:off x="365760" y="91440"/>
            <a:ext cx="8229600" cy="457200"/>
          </a:xfrm>
          <a:prstGeom prst="rect">
            <a:avLst/>
          </a:prstGeom>
          <a:noFill/>
        </p:spPr>
        <p:txBody>
          <a:bodyPr wrap="square" lIns="0" tIns="0" rIns="0" bIns="0" rtlCol="0" anchor="ctr"/>
          <a:lstStyle/>
          <a:p>
            <a:pPr marL="0" indent="0">
              <a:buNone/>
            </a:pPr>
            <a:endParaRPr lang="en-IN" altLang="en-US" sz="2200" dirty="0"/>
          </a:p>
        </p:txBody>
      </p:sp>
      <p:sp>
        <p:nvSpPr>
          <p:cNvPr id="7" name="Text 1"/>
          <p:cNvSpPr/>
          <p:nvPr/>
        </p:nvSpPr>
        <p:spPr>
          <a:xfrm>
            <a:off x="262255"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 </a:t>
            </a:r>
            <a:r>
              <a:rPr lang="en-IN" altLang="en-US" sz="2200" b="1" dirty="0">
                <a:solidFill>
                  <a:srgbClr val="FFFFFF"/>
                </a:solidFill>
              </a:rPr>
              <a:t>P2P Architecture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hape 0"/>
          <p:cNvSpPr/>
          <p:nvPr/>
        </p:nvSpPr>
        <p:spPr>
          <a:xfrm>
            <a:off x="0" y="0"/>
            <a:ext cx="9144000" cy="640080"/>
          </a:xfrm>
          <a:prstGeom prst="rect">
            <a:avLst/>
          </a:prstGeom>
          <a:solidFill>
            <a:srgbClr val="922B21"/>
          </a:solidFill>
        </p:spPr>
        <p:txBody>
          <a:bodyPr/>
          <a:p>
            <a:r>
              <a:rPr lang="en-US" b="1" dirty="0">
                <a:solidFill>
                  <a:srgbClr val="FFFFFF"/>
                </a:solidFill>
                <a:sym typeface="+mn-ea"/>
              </a:rPr>
              <a:t> </a:t>
            </a:r>
            <a:endParaRPr lang="en-US" dirty="0"/>
          </a:p>
          <a:p>
            <a:endParaRPr lang="en-US"/>
          </a:p>
        </p:txBody>
      </p:sp>
      <p:sp>
        <p:nvSpPr>
          <p:cNvPr id="6" name="Text 1"/>
          <p:cNvSpPr/>
          <p:nvPr/>
        </p:nvSpPr>
        <p:spPr>
          <a:xfrm>
            <a:off x="365760" y="91440"/>
            <a:ext cx="8229600" cy="457200"/>
          </a:xfrm>
          <a:prstGeom prst="rect">
            <a:avLst/>
          </a:prstGeom>
          <a:noFill/>
        </p:spPr>
        <p:txBody>
          <a:bodyPr wrap="square" lIns="0" tIns="0" rIns="0" bIns="0" rtlCol="0" anchor="ctr"/>
          <a:lstStyle/>
          <a:p>
            <a:pPr marL="0" indent="0">
              <a:buNone/>
            </a:pPr>
            <a:endParaRPr lang="en-IN" altLang="en-US" sz="2200" dirty="0"/>
          </a:p>
        </p:txBody>
      </p:sp>
      <p:sp>
        <p:nvSpPr>
          <p:cNvPr id="7" name="Text 1"/>
          <p:cNvSpPr/>
          <p:nvPr/>
        </p:nvSpPr>
        <p:spPr>
          <a:xfrm>
            <a:off x="262255" y="91440"/>
            <a:ext cx="8229600" cy="457200"/>
          </a:xfrm>
          <a:prstGeom prst="rect">
            <a:avLst/>
          </a:prstGeom>
          <a:noFill/>
        </p:spPr>
        <p:txBody>
          <a:bodyPr wrap="square" lIns="0" tIns="0" rIns="0" bIns="0" rtlCol="0" anchor="ctr"/>
          <a:lstStyle/>
          <a:p>
            <a:pPr marL="0" indent="0">
              <a:buNone/>
            </a:pPr>
            <a:r>
              <a:rPr lang="en-IN" altLang="en-US" sz="2200" b="1" dirty="0">
                <a:solidFill>
                  <a:srgbClr val="FFFFFF"/>
                </a:solidFill>
              </a:rPr>
              <a:t>P2P Architecture : Modules Covered</a:t>
            </a:r>
            <a:endParaRPr lang="en-US" sz="2200" dirty="0"/>
          </a:p>
        </p:txBody>
      </p:sp>
      <p:pic>
        <p:nvPicPr>
          <p:cNvPr id="2" name="Picture 1"/>
          <p:cNvPicPr>
            <a:picLocks noChangeAspect="1"/>
          </p:cNvPicPr>
          <p:nvPr/>
        </p:nvPicPr>
        <p:blipFill>
          <a:blip r:embed="rId1"/>
          <a:stretch>
            <a:fillRect/>
          </a:stretch>
        </p:blipFill>
        <p:spPr>
          <a:xfrm>
            <a:off x="0" y="581025"/>
            <a:ext cx="9144000" cy="4563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22B21"/>
          </a:solidFill>
        </p:spPr>
      </p:sp>
      <p:sp>
        <p:nvSpPr>
          <p:cNvPr id="3" name="Text 1"/>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 Data Layer — Sources</a:t>
            </a:r>
            <a:endParaRPr lang="en-US" sz="2200" dirty="0"/>
          </a:p>
        </p:txBody>
      </p:sp>
      <p:sp>
        <p:nvSpPr>
          <p:cNvPr id="4" name="Shape 2"/>
          <p:cNvSpPr/>
          <p:nvPr/>
        </p:nvSpPr>
        <p:spPr>
          <a:xfrm>
            <a:off x="274320" y="749808"/>
            <a:ext cx="8595360" cy="457200"/>
          </a:xfrm>
          <a:prstGeom prst="rect">
            <a:avLst/>
          </a:prstGeom>
          <a:solidFill>
            <a:srgbClr val="0D1B2A"/>
          </a:solidFill>
        </p:spPr>
      </p:sp>
      <p:sp>
        <p:nvSpPr>
          <p:cNvPr id="5" name="Text 3"/>
          <p:cNvSpPr/>
          <p:nvPr/>
        </p:nvSpPr>
        <p:spPr>
          <a:xfrm>
            <a:off x="411480" y="768096"/>
            <a:ext cx="8321040" cy="420624"/>
          </a:xfrm>
          <a:prstGeom prst="rect">
            <a:avLst/>
          </a:prstGeom>
          <a:noFill/>
        </p:spPr>
        <p:txBody>
          <a:bodyPr wrap="square" lIns="0" tIns="0" rIns="0" bIns="0" rtlCol="0" anchor="ctr"/>
          <a:lstStyle/>
          <a:p>
            <a:pPr marL="0" indent="0">
              <a:buNone/>
            </a:pPr>
            <a:r>
              <a:rPr lang="en-US" sz="1050" i="1" dirty="0">
                <a:solidFill>
                  <a:srgbClr val="FFFFFF"/>
                </a:solidFill>
              </a:rPr>
              <a:t>The foundation of the ClearView platform. All invoice-related raw data sources are ingested here before any AI processing begins.</a:t>
            </a:r>
            <a:endParaRPr lang="en-US" sz="1050" dirty="0"/>
          </a:p>
        </p:txBody>
      </p:sp>
      <p:sp>
        <p:nvSpPr>
          <p:cNvPr id="6" name="Shape 4"/>
          <p:cNvSpPr/>
          <p:nvPr/>
        </p:nvSpPr>
        <p:spPr>
          <a:xfrm>
            <a:off x="274320" y="1344295"/>
            <a:ext cx="2027555" cy="981710"/>
          </a:xfrm>
          <a:prstGeom prst="rect">
            <a:avLst/>
          </a:prstGeom>
          <a:solidFill>
            <a:srgbClr val="FFFFFF"/>
          </a:solidFill>
          <a:effectLst>
            <a:outerShdw blurRad="101600" dist="38100" dir="8100000" algn="bl" rotWithShape="0">
              <a:srgbClr val="000000">
                <a:alpha val="15000"/>
              </a:srgbClr>
            </a:outerShdw>
          </a:effectLst>
        </p:spPr>
      </p:sp>
      <p:sp>
        <p:nvSpPr>
          <p:cNvPr id="7" name="Shape 5"/>
          <p:cNvSpPr/>
          <p:nvPr/>
        </p:nvSpPr>
        <p:spPr>
          <a:xfrm>
            <a:off x="274320" y="1344168"/>
            <a:ext cx="2011680" cy="457200"/>
          </a:xfrm>
          <a:prstGeom prst="rect">
            <a:avLst/>
          </a:prstGeom>
          <a:solidFill>
            <a:srgbClr val="922B21"/>
          </a:solidFill>
        </p:spPr>
      </p:sp>
      <p:sp>
        <p:nvSpPr>
          <p:cNvPr id="8" name="Text 6"/>
          <p:cNvSpPr/>
          <p:nvPr/>
        </p:nvSpPr>
        <p:spPr>
          <a:xfrm>
            <a:off x="274320" y="1389888"/>
            <a:ext cx="2011680" cy="36576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365760" y="1865376"/>
            <a:ext cx="1828800" cy="274320"/>
          </a:xfrm>
          <a:prstGeom prst="rect">
            <a:avLst/>
          </a:prstGeom>
          <a:noFill/>
        </p:spPr>
        <p:txBody>
          <a:bodyPr wrap="square" lIns="0" tIns="0" rIns="0" bIns="0" rtlCol="0" anchor="ctr"/>
          <a:lstStyle/>
          <a:p>
            <a:pPr marL="0" indent="0">
              <a:buNone/>
            </a:pPr>
            <a:r>
              <a:rPr lang="en-US" sz="1000" b="1" dirty="0">
                <a:solidFill>
                  <a:srgbClr val="0D1B2A"/>
                </a:solidFill>
              </a:rPr>
              <a:t>PDFs / Docs</a:t>
            </a:r>
            <a:endParaRPr lang="en-US" sz="1000" dirty="0"/>
          </a:p>
        </p:txBody>
      </p:sp>
      <p:sp>
        <p:nvSpPr>
          <p:cNvPr id="42" name="Text 40"/>
          <p:cNvSpPr/>
          <p:nvPr/>
        </p:nvSpPr>
        <p:spPr>
          <a:xfrm>
            <a:off x="411480" y="4544568"/>
            <a:ext cx="8321040" cy="457200"/>
          </a:xfrm>
          <a:prstGeom prst="rect">
            <a:avLst/>
          </a:prstGeom>
          <a:noFill/>
        </p:spPr>
        <p:txBody>
          <a:bodyPr wrap="square" lIns="0" tIns="0" rIns="0" bIns="0" rtlCol="0" anchor="ctr"/>
          <a:lstStyle/>
          <a:p>
            <a:pPr marL="0" indent="0">
              <a:buNone/>
            </a:pPr>
            <a:r>
              <a:rPr lang="en-US" sz="1050" b="1" dirty="0">
                <a:solidFill>
                  <a:srgbClr val="FFFFFF"/>
                </a:solidFill>
              </a:rPr>
              <a:t> OUTCOME:  Unified, traceable raw data pipeline across all P2P document types. Eliminating manual data gathering.</a:t>
            </a:r>
            <a:endParaRPr lang="en-US" sz="1050" dirty="0"/>
          </a:p>
        </p:txBody>
      </p:sp>
      <p:sp>
        <p:nvSpPr>
          <p:cNvPr id="48" name="Text Box 47"/>
          <p:cNvSpPr txBox="1"/>
          <p:nvPr/>
        </p:nvSpPr>
        <p:spPr>
          <a:xfrm>
            <a:off x="4236085" y="3723005"/>
            <a:ext cx="3048000" cy="368300"/>
          </a:xfrm>
          <a:prstGeom prst="rect">
            <a:avLst/>
          </a:prstGeom>
          <a:noFill/>
        </p:spPr>
        <p:txBody>
          <a:bodyPr wrap="square" rtlCol="0">
            <a:spAutoFit/>
          </a:bodyPr>
          <a:p>
            <a:endParaRPr lang="en-US"/>
          </a:p>
        </p:txBody>
      </p:sp>
      <p:graphicFrame>
        <p:nvGraphicFramePr>
          <p:cNvPr id="10" name="Object 9">
            <a:hlinkClick r:id="" action="ppaction://ole?verb="/>
          </p:cNvPr>
          <p:cNvGraphicFramePr>
            <a:graphicFrameLocks noChangeAspect="1"/>
          </p:cNvGraphicFramePr>
          <p:nvPr/>
        </p:nvGraphicFramePr>
        <p:xfrm>
          <a:off x="538480" y="2841625"/>
          <a:ext cx="1179830" cy="763270"/>
        </p:xfrm>
        <a:graphic>
          <a:graphicData uri="http://schemas.openxmlformats.org/presentationml/2006/ole">
            <mc:AlternateContent xmlns:mc="http://schemas.openxmlformats.org/markup-compatibility/2006">
              <mc:Choice xmlns:v="urn:schemas-microsoft-com:vml" Requires="v">
                <p:oleObj spid="_x0000_s1030" name="" showAsIcon="1" r:id="rId1" imgW="971550" imgH="628650" progId="Word.Document.12">
                  <p:embed/>
                </p:oleObj>
              </mc:Choice>
              <mc:Fallback>
                <p:oleObj name="" showAsIcon="1" r:id="rId1" imgW="971550" imgH="628650" progId="Word.Document.12">
                  <p:embed/>
                  <p:pic>
                    <p:nvPicPr>
                      <p:cNvPr id="0" name="Picture 1029"/>
                      <p:cNvPicPr/>
                      <p:nvPr/>
                    </p:nvPicPr>
                    <p:blipFill>
                      <a:blip r:embed="rId2"/>
                      <a:stretch>
                        <a:fillRect/>
                      </a:stretch>
                    </p:blipFill>
                    <p:spPr>
                      <a:xfrm>
                        <a:off x="538480" y="2841625"/>
                        <a:ext cx="1179830" cy="763270"/>
                      </a:xfrm>
                      <a:prstGeom prst="rect">
                        <a:avLst/>
                      </a:prstGeom>
                    </p:spPr>
                  </p:pic>
                </p:oleObj>
              </mc:Fallback>
            </mc:AlternateContent>
          </a:graphicData>
        </a:graphic>
      </p:graphicFrame>
      <p:graphicFrame>
        <p:nvGraphicFramePr>
          <p:cNvPr id="11" name="Object 10">
            <a:hlinkClick r:id="" action="ppaction://ole?verb="/>
          </p:cNvPr>
          <p:cNvGraphicFramePr>
            <a:graphicFrameLocks noChangeAspect="1"/>
          </p:cNvGraphicFramePr>
          <p:nvPr/>
        </p:nvGraphicFramePr>
        <p:xfrm>
          <a:off x="2028825" y="2850515"/>
          <a:ext cx="1105535" cy="715645"/>
        </p:xfrm>
        <a:graphic>
          <a:graphicData uri="http://schemas.openxmlformats.org/presentationml/2006/ole">
            <mc:AlternateContent xmlns:mc="http://schemas.openxmlformats.org/markup-compatibility/2006">
              <mc:Choice xmlns:v="urn:schemas-microsoft-com:vml" Requires="v">
                <p:oleObj spid="_x0000_s1031" name="" showAsIcon="1" r:id="rId3" imgW="971550" imgH="628650" progId="Word.Document.12">
                  <p:embed/>
                </p:oleObj>
              </mc:Choice>
              <mc:Fallback>
                <p:oleObj name="" showAsIcon="1" r:id="rId3" imgW="971550" imgH="628650" progId="Word.Document.12">
                  <p:embed/>
                  <p:pic>
                    <p:nvPicPr>
                      <p:cNvPr id="0" name="Picture 1030"/>
                      <p:cNvPicPr/>
                      <p:nvPr/>
                    </p:nvPicPr>
                    <p:blipFill>
                      <a:blip r:embed="rId4"/>
                      <a:stretch>
                        <a:fillRect/>
                      </a:stretch>
                    </p:blipFill>
                    <p:spPr>
                      <a:xfrm>
                        <a:off x="2028825" y="2850515"/>
                        <a:ext cx="1105535" cy="715645"/>
                      </a:xfrm>
                      <a:prstGeom prst="rect">
                        <a:avLst/>
                      </a:prstGeom>
                    </p:spPr>
                  </p:pic>
                </p:oleObj>
              </mc:Fallback>
            </mc:AlternateContent>
          </a:graphicData>
        </a:graphic>
      </p:graphicFrame>
      <p:graphicFrame>
        <p:nvGraphicFramePr>
          <p:cNvPr id="12" name="Object 11">
            <a:hlinkClick r:id="" action="ppaction://ole?verb="/>
          </p:cNvPr>
          <p:cNvGraphicFramePr>
            <a:graphicFrameLocks noChangeAspect="1"/>
          </p:cNvGraphicFramePr>
          <p:nvPr/>
        </p:nvGraphicFramePr>
        <p:xfrm>
          <a:off x="3460750" y="2849880"/>
          <a:ext cx="1106805" cy="716280"/>
        </p:xfrm>
        <a:graphic>
          <a:graphicData uri="http://schemas.openxmlformats.org/presentationml/2006/ole">
            <mc:AlternateContent xmlns:mc="http://schemas.openxmlformats.org/markup-compatibility/2006">
              <mc:Choice xmlns:v="urn:schemas-microsoft-com:vml" Requires="v">
                <p:oleObj spid="_x0000_s1032" name="" showAsIcon="1" r:id="rId5" imgW="971550" imgH="628650" progId="Word.Document.12">
                  <p:embed/>
                </p:oleObj>
              </mc:Choice>
              <mc:Fallback>
                <p:oleObj name="" showAsIcon="1" r:id="rId5" imgW="971550" imgH="628650" progId="Word.Document.12">
                  <p:embed/>
                  <p:pic>
                    <p:nvPicPr>
                      <p:cNvPr id="0" name="Picture 1031"/>
                      <p:cNvPicPr/>
                      <p:nvPr/>
                    </p:nvPicPr>
                    <p:blipFill>
                      <a:blip r:embed="rId6"/>
                      <a:stretch>
                        <a:fillRect/>
                      </a:stretch>
                    </p:blipFill>
                    <p:spPr>
                      <a:xfrm>
                        <a:off x="3460750" y="2849880"/>
                        <a:ext cx="1106805" cy="716280"/>
                      </a:xfrm>
                      <a:prstGeom prst="rect">
                        <a:avLst/>
                      </a:prstGeom>
                    </p:spPr>
                  </p:pic>
                </p:oleObj>
              </mc:Fallback>
            </mc:AlternateContent>
          </a:graphicData>
        </a:graphic>
      </p:graphicFrame>
      <p:graphicFrame>
        <p:nvGraphicFramePr>
          <p:cNvPr id="13" name="Object 12">
            <a:hlinkClick r:id="" action="ppaction://ole?verb="/>
          </p:cNvPr>
          <p:cNvGraphicFramePr>
            <a:graphicFrameLocks noChangeAspect="1"/>
          </p:cNvGraphicFramePr>
          <p:nvPr/>
        </p:nvGraphicFramePr>
        <p:xfrm>
          <a:off x="4990465" y="2797810"/>
          <a:ext cx="1187450" cy="768350"/>
        </p:xfrm>
        <a:graphic>
          <a:graphicData uri="http://schemas.openxmlformats.org/presentationml/2006/ole">
            <mc:AlternateContent xmlns:mc="http://schemas.openxmlformats.org/markup-compatibility/2006">
              <mc:Choice xmlns:v="urn:schemas-microsoft-com:vml" Requires="v">
                <p:oleObj spid="_x0000_s1033" name="" showAsIcon="1" r:id="rId7" imgW="971550" imgH="628650" progId="Word.Document.12">
                  <p:embed/>
                </p:oleObj>
              </mc:Choice>
              <mc:Fallback>
                <p:oleObj name="" showAsIcon="1" r:id="rId7" imgW="971550" imgH="628650" progId="Word.Document.12">
                  <p:embed/>
                  <p:pic>
                    <p:nvPicPr>
                      <p:cNvPr id="0" name="Picture 1032"/>
                      <p:cNvPicPr/>
                      <p:nvPr/>
                    </p:nvPicPr>
                    <p:blipFill>
                      <a:blip r:embed="rId8"/>
                      <a:stretch>
                        <a:fillRect/>
                      </a:stretch>
                    </p:blipFill>
                    <p:spPr>
                      <a:xfrm>
                        <a:off x="4990465" y="2797810"/>
                        <a:ext cx="1187450" cy="768350"/>
                      </a:xfrm>
                      <a:prstGeom prst="rect">
                        <a:avLst/>
                      </a:prstGeom>
                    </p:spPr>
                  </p:pic>
                </p:oleObj>
              </mc:Fallback>
            </mc:AlternateContent>
          </a:graphicData>
        </a:graphic>
      </p:graphicFrame>
      <p:graphicFrame>
        <p:nvGraphicFramePr>
          <p:cNvPr id="14" name="Object 13">
            <a:hlinkClick r:id="" action="ppaction://ole?verb="/>
          </p:cNvPr>
          <p:cNvGraphicFramePr>
            <a:graphicFrameLocks noChangeAspect="1"/>
          </p:cNvGraphicFramePr>
          <p:nvPr/>
        </p:nvGraphicFramePr>
        <p:xfrm>
          <a:off x="6600825" y="2797810"/>
          <a:ext cx="1186180" cy="767715"/>
        </p:xfrm>
        <a:graphic>
          <a:graphicData uri="http://schemas.openxmlformats.org/presentationml/2006/ole">
            <mc:AlternateContent xmlns:mc="http://schemas.openxmlformats.org/markup-compatibility/2006">
              <mc:Choice xmlns:v="urn:schemas-microsoft-com:vml" Requires="v">
                <p:oleObj spid="_x0000_s1034" name="" showAsIcon="1" r:id="rId9" imgW="971550" imgH="628650" progId="Word.Document.12">
                  <p:embed/>
                </p:oleObj>
              </mc:Choice>
              <mc:Fallback>
                <p:oleObj name="" showAsIcon="1" r:id="rId9" imgW="971550" imgH="628650" progId="Word.Document.12">
                  <p:embed/>
                  <p:pic>
                    <p:nvPicPr>
                      <p:cNvPr id="0" name="Picture 1033"/>
                      <p:cNvPicPr/>
                      <p:nvPr/>
                    </p:nvPicPr>
                    <p:blipFill>
                      <a:blip r:embed="rId10"/>
                      <a:stretch>
                        <a:fillRect/>
                      </a:stretch>
                    </p:blipFill>
                    <p:spPr>
                      <a:xfrm>
                        <a:off x="6600825" y="2797810"/>
                        <a:ext cx="1186180" cy="767715"/>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4F72"/>
          </a:solidFill>
        </p:spPr>
      </p:sp>
      <p:sp>
        <p:nvSpPr>
          <p:cNvPr id="3" name="Text 1"/>
          <p:cNvSpPr/>
          <p:nvPr/>
        </p:nvSpPr>
        <p:spPr>
          <a:xfrm>
            <a:off x="365760" y="91440"/>
            <a:ext cx="8412480" cy="457200"/>
          </a:xfrm>
          <a:prstGeom prst="rect">
            <a:avLst/>
          </a:prstGeom>
          <a:noFill/>
        </p:spPr>
        <p:txBody>
          <a:bodyPr wrap="square" lIns="0" tIns="0" rIns="0" bIns="0" rtlCol="0" anchor="ctr"/>
          <a:lstStyle/>
          <a:p>
            <a:pPr marL="0" indent="0">
              <a:buNone/>
            </a:pPr>
            <a:r>
              <a:rPr lang="en-US" sz="2000" b="1" dirty="0">
                <a:solidFill>
                  <a:srgbClr val="FFFFFF"/>
                </a:solidFill>
              </a:rPr>
              <a:t>End-to-End P2P Invoice Reconciliation Flow</a:t>
            </a:r>
            <a:endParaRPr lang="en-US" sz="2000" dirty="0"/>
          </a:p>
        </p:txBody>
      </p:sp>
      <p:sp>
        <p:nvSpPr>
          <p:cNvPr id="4" name="Shape 2"/>
          <p:cNvSpPr/>
          <p:nvPr/>
        </p:nvSpPr>
        <p:spPr>
          <a:xfrm>
            <a:off x="228600" y="777240"/>
            <a:ext cx="1600200" cy="1645920"/>
          </a:xfrm>
          <a:prstGeom prst="rect">
            <a:avLst/>
          </a:prstGeom>
          <a:solidFill>
            <a:srgbClr val="922B21"/>
          </a:solidFill>
          <a:effectLst>
            <a:outerShdw blurRad="101600" dist="38100" dir="8100000" algn="bl" rotWithShape="0">
              <a:srgbClr val="000000">
                <a:alpha val="15000"/>
              </a:srgbClr>
            </a:outerShdw>
          </a:effectLst>
        </p:spPr>
      </p:sp>
      <p:sp>
        <p:nvSpPr>
          <p:cNvPr id="5" name="Text 3"/>
          <p:cNvSpPr/>
          <p:nvPr/>
        </p:nvSpPr>
        <p:spPr>
          <a:xfrm>
            <a:off x="228600" y="85039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6" name="Text 4"/>
          <p:cNvSpPr/>
          <p:nvPr/>
        </p:nvSpPr>
        <p:spPr>
          <a:xfrm>
            <a:off x="228600" y="121615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Data</a:t>
            </a:r>
            <a:endParaRPr lang="en-US" sz="1050" dirty="0"/>
          </a:p>
          <a:p>
            <a:pPr marL="0" indent="0" algn="ctr">
              <a:buNone/>
            </a:pPr>
            <a:r>
              <a:rPr lang="en-US" sz="1050" b="1" dirty="0">
                <a:solidFill>
                  <a:srgbClr val="FFFFFF"/>
                </a:solidFill>
              </a:rPr>
              <a:t>Ingestion</a:t>
            </a:r>
            <a:endParaRPr lang="en-US" sz="1050" dirty="0"/>
          </a:p>
        </p:txBody>
      </p:sp>
      <p:sp>
        <p:nvSpPr>
          <p:cNvPr id="7" name="Text 5"/>
          <p:cNvSpPr/>
          <p:nvPr/>
        </p:nvSpPr>
        <p:spPr>
          <a:xfrm>
            <a:off x="228600" y="182880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PDFs, Excel, ERP, Email → Raw pipeline</a:t>
            </a:r>
            <a:endParaRPr lang="en-US" sz="750" dirty="0"/>
          </a:p>
        </p:txBody>
      </p:sp>
      <p:sp>
        <p:nvSpPr>
          <p:cNvPr id="8" name="Shape 6"/>
          <p:cNvSpPr/>
          <p:nvPr/>
        </p:nvSpPr>
        <p:spPr>
          <a:xfrm>
            <a:off x="1828800" y="1600200"/>
            <a:ext cx="155448" cy="0"/>
          </a:xfrm>
          <a:prstGeom prst="line">
            <a:avLst/>
          </a:prstGeom>
          <a:noFill/>
          <a:ln w="25400">
            <a:solidFill>
              <a:srgbClr val="F39C12"/>
            </a:solidFill>
            <a:prstDash val="solid"/>
          </a:ln>
        </p:spPr>
      </p:sp>
      <p:sp>
        <p:nvSpPr>
          <p:cNvPr id="9" name="Shape 7"/>
          <p:cNvSpPr/>
          <p:nvPr/>
        </p:nvSpPr>
        <p:spPr>
          <a:xfrm>
            <a:off x="1984248" y="777240"/>
            <a:ext cx="1600200" cy="1645920"/>
          </a:xfrm>
          <a:prstGeom prst="rect">
            <a:avLst/>
          </a:prstGeom>
          <a:solidFill>
            <a:srgbClr val="D35400"/>
          </a:solidFill>
          <a:effectLst>
            <a:outerShdw blurRad="101600" dist="38100" dir="8100000" algn="bl" rotWithShape="0">
              <a:srgbClr val="000000">
                <a:alpha val="15000"/>
              </a:srgbClr>
            </a:outerShdw>
          </a:effectLst>
        </p:spPr>
      </p:sp>
      <p:sp>
        <p:nvSpPr>
          <p:cNvPr id="10" name="Text 8"/>
          <p:cNvSpPr/>
          <p:nvPr/>
        </p:nvSpPr>
        <p:spPr>
          <a:xfrm>
            <a:off x="1984248" y="85039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p:nvPr/>
        </p:nvSpPr>
        <p:spPr>
          <a:xfrm>
            <a:off x="1984248" y="121615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OCR /</a:t>
            </a:r>
            <a:endParaRPr lang="en-US" sz="1050" dirty="0"/>
          </a:p>
          <a:p>
            <a:pPr marL="0" indent="0" algn="ctr">
              <a:buNone/>
            </a:pPr>
            <a:r>
              <a:rPr lang="en-US" sz="1050" b="1" dirty="0">
                <a:solidFill>
                  <a:srgbClr val="FFFFFF"/>
                </a:solidFill>
              </a:rPr>
              <a:t>Parsing</a:t>
            </a:r>
            <a:endParaRPr lang="en-US" sz="1050" dirty="0"/>
          </a:p>
        </p:txBody>
      </p:sp>
      <p:sp>
        <p:nvSpPr>
          <p:cNvPr id="12" name="Text 10"/>
          <p:cNvSpPr/>
          <p:nvPr/>
        </p:nvSpPr>
        <p:spPr>
          <a:xfrm>
            <a:off x="1984248" y="182880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Gemini Vision</a:t>
            </a:r>
            <a:endParaRPr lang="en-US" sz="750" dirty="0"/>
          </a:p>
        </p:txBody>
      </p:sp>
      <p:sp>
        <p:nvSpPr>
          <p:cNvPr id="13" name="Shape 11"/>
          <p:cNvSpPr/>
          <p:nvPr/>
        </p:nvSpPr>
        <p:spPr>
          <a:xfrm>
            <a:off x="3584448" y="1600200"/>
            <a:ext cx="155448" cy="0"/>
          </a:xfrm>
          <a:prstGeom prst="line">
            <a:avLst/>
          </a:prstGeom>
          <a:noFill/>
          <a:ln w="25400">
            <a:solidFill>
              <a:srgbClr val="F39C12"/>
            </a:solidFill>
            <a:prstDash val="solid"/>
          </a:ln>
        </p:spPr>
      </p:sp>
      <p:sp>
        <p:nvSpPr>
          <p:cNvPr id="14" name="Shape 12"/>
          <p:cNvSpPr/>
          <p:nvPr/>
        </p:nvSpPr>
        <p:spPr>
          <a:xfrm>
            <a:off x="3739896" y="777240"/>
            <a:ext cx="1600200" cy="1645920"/>
          </a:xfrm>
          <a:prstGeom prst="rect">
            <a:avLst/>
          </a:prstGeom>
          <a:solidFill>
            <a:srgbClr val="F39C12"/>
          </a:solidFill>
          <a:effectLst>
            <a:outerShdw blurRad="101600" dist="38100" dir="8100000" algn="bl" rotWithShape="0">
              <a:srgbClr val="000000">
                <a:alpha val="15000"/>
              </a:srgbClr>
            </a:outerShdw>
          </a:effectLst>
        </p:spPr>
      </p:sp>
      <p:sp>
        <p:nvSpPr>
          <p:cNvPr id="15" name="Text 13"/>
          <p:cNvSpPr/>
          <p:nvPr/>
        </p:nvSpPr>
        <p:spPr>
          <a:xfrm>
            <a:off x="3739896" y="85039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6" name="Text 14"/>
          <p:cNvSpPr/>
          <p:nvPr/>
        </p:nvSpPr>
        <p:spPr>
          <a:xfrm>
            <a:off x="3739896" y="121615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Semantic</a:t>
            </a:r>
            <a:endParaRPr lang="en-US" sz="1050" dirty="0"/>
          </a:p>
          <a:p>
            <a:pPr marL="0" indent="0" algn="ctr">
              <a:buNone/>
            </a:pPr>
            <a:r>
              <a:rPr lang="en-US" sz="1050" b="1" dirty="0">
                <a:solidFill>
                  <a:srgbClr val="FFFFFF"/>
                </a:solidFill>
              </a:rPr>
              <a:t>Access</a:t>
            </a:r>
            <a:endParaRPr lang="en-US" sz="1050" dirty="0"/>
          </a:p>
        </p:txBody>
      </p:sp>
      <p:sp>
        <p:nvSpPr>
          <p:cNvPr id="17" name="Text 15"/>
          <p:cNvSpPr/>
          <p:nvPr/>
        </p:nvSpPr>
        <p:spPr>
          <a:xfrm>
            <a:off x="3739896" y="182880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Embedding + Vector Index + Graph</a:t>
            </a:r>
            <a:endParaRPr lang="en-US" sz="750" dirty="0"/>
          </a:p>
        </p:txBody>
      </p:sp>
      <p:sp>
        <p:nvSpPr>
          <p:cNvPr id="18" name="Shape 16"/>
          <p:cNvSpPr/>
          <p:nvPr/>
        </p:nvSpPr>
        <p:spPr>
          <a:xfrm>
            <a:off x="5340096" y="1600200"/>
            <a:ext cx="155448" cy="0"/>
          </a:xfrm>
          <a:prstGeom prst="line">
            <a:avLst/>
          </a:prstGeom>
          <a:noFill/>
          <a:ln w="25400">
            <a:solidFill>
              <a:srgbClr val="F39C12"/>
            </a:solidFill>
            <a:prstDash val="solid"/>
          </a:ln>
        </p:spPr>
      </p:sp>
      <p:sp>
        <p:nvSpPr>
          <p:cNvPr id="19" name="Shape 17"/>
          <p:cNvSpPr/>
          <p:nvPr/>
        </p:nvSpPr>
        <p:spPr>
          <a:xfrm>
            <a:off x="5495544" y="777240"/>
            <a:ext cx="1600200" cy="1645920"/>
          </a:xfrm>
          <a:prstGeom prst="rect">
            <a:avLst/>
          </a:prstGeom>
          <a:solidFill>
            <a:srgbClr val="1E8449"/>
          </a:solidFill>
          <a:effectLst>
            <a:outerShdw blurRad="101600" dist="38100" dir="8100000" algn="bl" rotWithShape="0">
              <a:srgbClr val="000000">
                <a:alpha val="15000"/>
              </a:srgbClr>
            </a:outerShdw>
          </a:effectLst>
        </p:spPr>
      </p:sp>
      <p:sp>
        <p:nvSpPr>
          <p:cNvPr id="20" name="Text 18"/>
          <p:cNvSpPr/>
          <p:nvPr/>
        </p:nvSpPr>
        <p:spPr>
          <a:xfrm>
            <a:off x="5495544" y="85039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1" name="Text 19"/>
          <p:cNvSpPr/>
          <p:nvPr/>
        </p:nvSpPr>
        <p:spPr>
          <a:xfrm>
            <a:off x="5495544" y="121615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Insight</a:t>
            </a:r>
            <a:endParaRPr lang="en-US" sz="1050" dirty="0"/>
          </a:p>
          <a:p>
            <a:pPr marL="0" indent="0" algn="ctr">
              <a:buNone/>
            </a:pPr>
            <a:r>
              <a:rPr lang="en-US" sz="1050" b="1" dirty="0">
                <a:solidFill>
                  <a:srgbClr val="FFFFFF"/>
                </a:solidFill>
              </a:rPr>
              <a:t>Extraction</a:t>
            </a:r>
            <a:endParaRPr lang="en-US" sz="1050" dirty="0"/>
          </a:p>
        </p:txBody>
      </p:sp>
      <p:sp>
        <p:nvSpPr>
          <p:cNvPr id="22" name="Text 20"/>
          <p:cNvSpPr/>
          <p:nvPr/>
        </p:nvSpPr>
        <p:spPr>
          <a:xfrm>
            <a:off x="5495544" y="182880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6 Specialized AI Agents process data</a:t>
            </a:r>
            <a:endParaRPr lang="en-US" sz="750" dirty="0"/>
          </a:p>
        </p:txBody>
      </p:sp>
      <p:sp>
        <p:nvSpPr>
          <p:cNvPr id="23" name="Shape 21"/>
          <p:cNvSpPr/>
          <p:nvPr/>
        </p:nvSpPr>
        <p:spPr>
          <a:xfrm>
            <a:off x="7095744" y="1600200"/>
            <a:ext cx="155448" cy="0"/>
          </a:xfrm>
          <a:prstGeom prst="line">
            <a:avLst/>
          </a:prstGeom>
          <a:noFill/>
          <a:ln w="25400">
            <a:solidFill>
              <a:srgbClr val="F39C12"/>
            </a:solidFill>
            <a:prstDash val="solid"/>
          </a:ln>
        </p:spPr>
      </p:sp>
      <p:sp>
        <p:nvSpPr>
          <p:cNvPr id="24" name="Shape 22"/>
          <p:cNvSpPr/>
          <p:nvPr/>
        </p:nvSpPr>
        <p:spPr>
          <a:xfrm>
            <a:off x="7251192" y="777240"/>
            <a:ext cx="1600200" cy="1645920"/>
          </a:xfrm>
          <a:prstGeom prst="rect">
            <a:avLst/>
          </a:prstGeom>
          <a:solidFill>
            <a:srgbClr val="117A65"/>
          </a:solidFill>
          <a:effectLst>
            <a:outerShdw blurRad="101600" dist="38100" dir="8100000" algn="bl" rotWithShape="0">
              <a:srgbClr val="000000">
                <a:alpha val="15000"/>
              </a:srgbClr>
            </a:outerShdw>
          </a:effectLst>
        </p:spPr>
      </p:sp>
      <p:sp>
        <p:nvSpPr>
          <p:cNvPr id="25" name="Text 23"/>
          <p:cNvSpPr/>
          <p:nvPr/>
        </p:nvSpPr>
        <p:spPr>
          <a:xfrm>
            <a:off x="7251192" y="85039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6" name="Text 24"/>
          <p:cNvSpPr/>
          <p:nvPr/>
        </p:nvSpPr>
        <p:spPr>
          <a:xfrm>
            <a:off x="7251192" y="121615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Context /</a:t>
            </a:r>
            <a:endParaRPr lang="en-US" sz="1050" dirty="0"/>
          </a:p>
          <a:p>
            <a:pPr marL="0" indent="0" algn="ctr">
              <a:buNone/>
            </a:pPr>
            <a:r>
              <a:rPr lang="en-US" sz="1050" b="1" dirty="0">
                <a:solidFill>
                  <a:srgbClr val="FFFFFF"/>
                </a:solidFill>
              </a:rPr>
              <a:t>RAG</a:t>
            </a:r>
            <a:endParaRPr lang="en-US" sz="1050" dirty="0"/>
          </a:p>
        </p:txBody>
      </p:sp>
      <p:sp>
        <p:nvSpPr>
          <p:cNvPr id="27" name="Text 25"/>
          <p:cNvSpPr/>
          <p:nvPr/>
        </p:nvSpPr>
        <p:spPr>
          <a:xfrm>
            <a:off x="7251192" y="182880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Context Builder + RAG Engine + Neo4j</a:t>
            </a:r>
            <a:endParaRPr lang="en-US" sz="750" dirty="0"/>
          </a:p>
        </p:txBody>
      </p:sp>
      <p:sp>
        <p:nvSpPr>
          <p:cNvPr id="28" name="Shape 26"/>
          <p:cNvSpPr/>
          <p:nvPr/>
        </p:nvSpPr>
        <p:spPr>
          <a:xfrm>
            <a:off x="228600" y="2880360"/>
            <a:ext cx="1600200" cy="1645920"/>
          </a:xfrm>
          <a:prstGeom prst="rect">
            <a:avLst/>
          </a:prstGeom>
          <a:solidFill>
            <a:srgbClr val="6C3483"/>
          </a:solidFill>
          <a:effectLst>
            <a:outerShdw blurRad="101600" dist="38100" dir="8100000" algn="bl" rotWithShape="0">
              <a:srgbClr val="000000">
                <a:alpha val="15000"/>
              </a:srgbClr>
            </a:outerShdw>
          </a:effectLst>
        </p:spPr>
      </p:sp>
      <p:sp>
        <p:nvSpPr>
          <p:cNvPr id="29" name="Text 27"/>
          <p:cNvSpPr/>
          <p:nvPr/>
        </p:nvSpPr>
        <p:spPr>
          <a:xfrm>
            <a:off x="228600" y="295351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30" name="Text 28"/>
          <p:cNvSpPr/>
          <p:nvPr/>
        </p:nvSpPr>
        <p:spPr>
          <a:xfrm>
            <a:off x="228600" y="331927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Decision</a:t>
            </a:r>
            <a:endParaRPr lang="en-US" sz="1050" dirty="0"/>
          </a:p>
        </p:txBody>
      </p:sp>
      <p:sp>
        <p:nvSpPr>
          <p:cNvPr id="31" name="Text 29"/>
          <p:cNvSpPr/>
          <p:nvPr/>
        </p:nvSpPr>
        <p:spPr>
          <a:xfrm>
            <a:off x="228600" y="393192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Validation + 3-Way Match + Approve/Reject</a:t>
            </a:r>
            <a:endParaRPr lang="en-US" sz="750" dirty="0"/>
          </a:p>
        </p:txBody>
      </p:sp>
      <p:sp>
        <p:nvSpPr>
          <p:cNvPr id="32" name="Shape 30"/>
          <p:cNvSpPr/>
          <p:nvPr/>
        </p:nvSpPr>
        <p:spPr>
          <a:xfrm>
            <a:off x="1828800" y="3703320"/>
            <a:ext cx="155448" cy="0"/>
          </a:xfrm>
          <a:prstGeom prst="line">
            <a:avLst/>
          </a:prstGeom>
          <a:noFill/>
          <a:ln w="25400">
            <a:solidFill>
              <a:srgbClr val="F39C12"/>
            </a:solidFill>
            <a:prstDash val="solid"/>
          </a:ln>
        </p:spPr>
      </p:sp>
      <p:sp>
        <p:nvSpPr>
          <p:cNvPr id="33" name="Shape 31"/>
          <p:cNvSpPr/>
          <p:nvPr/>
        </p:nvSpPr>
        <p:spPr>
          <a:xfrm>
            <a:off x="1984248" y="2880360"/>
            <a:ext cx="1600200" cy="1645920"/>
          </a:xfrm>
          <a:prstGeom prst="rect">
            <a:avLst/>
          </a:prstGeom>
          <a:solidFill>
            <a:srgbClr val="1B4F72"/>
          </a:solidFill>
          <a:effectLst>
            <a:outerShdw blurRad="101600" dist="38100" dir="8100000" algn="bl" rotWithShape="0">
              <a:srgbClr val="000000">
                <a:alpha val="15000"/>
              </a:srgbClr>
            </a:outerShdw>
          </a:effectLst>
        </p:spPr>
      </p:sp>
      <p:sp>
        <p:nvSpPr>
          <p:cNvPr id="34" name="Text 32"/>
          <p:cNvSpPr/>
          <p:nvPr/>
        </p:nvSpPr>
        <p:spPr>
          <a:xfrm>
            <a:off x="1984248" y="295351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7</a:t>
            </a:r>
            <a:endParaRPr lang="en-US" sz="2200" dirty="0"/>
          </a:p>
        </p:txBody>
      </p:sp>
      <p:sp>
        <p:nvSpPr>
          <p:cNvPr id="35" name="Text 33"/>
          <p:cNvSpPr/>
          <p:nvPr/>
        </p:nvSpPr>
        <p:spPr>
          <a:xfrm>
            <a:off x="1984248" y="331927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Trace &amp;</a:t>
            </a:r>
            <a:endParaRPr lang="en-US" sz="1050" dirty="0"/>
          </a:p>
          <a:p>
            <a:pPr marL="0" indent="0" algn="ctr">
              <a:buNone/>
            </a:pPr>
            <a:r>
              <a:rPr lang="en-US" sz="1050" b="1" dirty="0">
                <a:solidFill>
                  <a:srgbClr val="FFFFFF"/>
                </a:solidFill>
              </a:rPr>
              <a:t>Guardrails</a:t>
            </a:r>
            <a:endParaRPr lang="en-US" sz="1050" dirty="0"/>
          </a:p>
        </p:txBody>
      </p:sp>
      <p:sp>
        <p:nvSpPr>
          <p:cNvPr id="36" name="Text 34"/>
          <p:cNvSpPr/>
          <p:nvPr/>
        </p:nvSpPr>
        <p:spPr>
          <a:xfrm>
            <a:off x="1984248" y="393192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LangSmith audit + RBAC compliance</a:t>
            </a:r>
            <a:endParaRPr lang="en-US" sz="750" dirty="0"/>
          </a:p>
        </p:txBody>
      </p:sp>
      <p:sp>
        <p:nvSpPr>
          <p:cNvPr id="37" name="Shape 35"/>
          <p:cNvSpPr/>
          <p:nvPr/>
        </p:nvSpPr>
        <p:spPr>
          <a:xfrm>
            <a:off x="3584448" y="3703320"/>
            <a:ext cx="155448" cy="0"/>
          </a:xfrm>
          <a:prstGeom prst="line">
            <a:avLst/>
          </a:prstGeom>
          <a:noFill/>
          <a:ln w="25400">
            <a:solidFill>
              <a:srgbClr val="F39C12"/>
            </a:solidFill>
            <a:prstDash val="solid"/>
          </a:ln>
        </p:spPr>
      </p:sp>
      <p:sp>
        <p:nvSpPr>
          <p:cNvPr id="38" name="Shape 36"/>
          <p:cNvSpPr/>
          <p:nvPr/>
        </p:nvSpPr>
        <p:spPr>
          <a:xfrm>
            <a:off x="3739896" y="2880360"/>
            <a:ext cx="1600200" cy="1645920"/>
          </a:xfrm>
          <a:prstGeom prst="rect">
            <a:avLst/>
          </a:prstGeom>
          <a:solidFill>
            <a:srgbClr val="1B4F72"/>
          </a:solidFill>
          <a:effectLst>
            <a:outerShdw blurRad="101600" dist="38100" dir="8100000" algn="bl" rotWithShape="0">
              <a:srgbClr val="000000">
                <a:alpha val="15000"/>
              </a:srgbClr>
            </a:outerShdw>
          </a:effectLst>
        </p:spPr>
      </p:sp>
      <p:sp>
        <p:nvSpPr>
          <p:cNvPr id="39" name="Text 37"/>
          <p:cNvSpPr/>
          <p:nvPr/>
        </p:nvSpPr>
        <p:spPr>
          <a:xfrm>
            <a:off x="3739896" y="295351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8</a:t>
            </a:r>
            <a:endParaRPr lang="en-US" sz="2200" dirty="0"/>
          </a:p>
        </p:txBody>
      </p:sp>
      <p:sp>
        <p:nvSpPr>
          <p:cNvPr id="40" name="Text 38"/>
          <p:cNvSpPr/>
          <p:nvPr/>
        </p:nvSpPr>
        <p:spPr>
          <a:xfrm>
            <a:off x="3739896" y="331927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Application</a:t>
            </a:r>
            <a:endParaRPr lang="en-US" sz="1050" dirty="0"/>
          </a:p>
        </p:txBody>
      </p:sp>
      <p:sp>
        <p:nvSpPr>
          <p:cNvPr id="41" name="Text 39"/>
          <p:cNvSpPr/>
          <p:nvPr/>
        </p:nvSpPr>
        <p:spPr>
          <a:xfrm>
            <a:off x="3739896" y="393192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React UI + FastAPI + Notifications</a:t>
            </a:r>
            <a:endParaRPr lang="en-US" sz="750" dirty="0"/>
          </a:p>
        </p:txBody>
      </p:sp>
      <p:sp>
        <p:nvSpPr>
          <p:cNvPr id="42" name="Shape 40"/>
          <p:cNvSpPr/>
          <p:nvPr/>
        </p:nvSpPr>
        <p:spPr>
          <a:xfrm>
            <a:off x="5340096" y="3703320"/>
            <a:ext cx="155448" cy="0"/>
          </a:xfrm>
          <a:prstGeom prst="line">
            <a:avLst/>
          </a:prstGeom>
          <a:noFill/>
          <a:ln w="25400">
            <a:solidFill>
              <a:srgbClr val="F39C12"/>
            </a:solidFill>
            <a:prstDash val="solid"/>
          </a:ln>
        </p:spPr>
      </p:sp>
      <p:sp>
        <p:nvSpPr>
          <p:cNvPr id="43" name="Shape 41"/>
          <p:cNvSpPr/>
          <p:nvPr/>
        </p:nvSpPr>
        <p:spPr>
          <a:xfrm>
            <a:off x="5495544" y="2880360"/>
            <a:ext cx="1600200" cy="1645920"/>
          </a:xfrm>
          <a:prstGeom prst="rect">
            <a:avLst/>
          </a:prstGeom>
          <a:solidFill>
            <a:srgbClr val="0D1B2A"/>
          </a:solidFill>
          <a:effectLst>
            <a:outerShdw blurRad="101600" dist="38100" dir="8100000" algn="bl" rotWithShape="0">
              <a:srgbClr val="000000">
                <a:alpha val="15000"/>
              </a:srgbClr>
            </a:outerShdw>
          </a:effectLst>
        </p:spPr>
      </p:sp>
      <p:sp>
        <p:nvSpPr>
          <p:cNvPr id="44" name="Text 42"/>
          <p:cNvSpPr/>
          <p:nvPr/>
        </p:nvSpPr>
        <p:spPr>
          <a:xfrm>
            <a:off x="5495544" y="2953512"/>
            <a:ext cx="1600200" cy="320040"/>
          </a:xfrm>
          <a:prstGeom prst="rect">
            <a:avLst/>
          </a:prstGeom>
          <a:noFill/>
        </p:spPr>
        <p:txBody>
          <a:bodyPr wrap="square" lIns="0" tIns="0" rIns="0" bIns="0" rtlCol="0" anchor="ctr"/>
          <a:lstStyle/>
          <a:p>
            <a:pPr marL="0" indent="0" algn="ctr">
              <a:buNone/>
            </a:pPr>
            <a:r>
              <a:rPr lang="en-US" sz="2200" b="1" dirty="0">
                <a:solidFill>
                  <a:srgbClr val="FFFFFF"/>
                </a:solidFill>
              </a:rPr>
              <a:t>9</a:t>
            </a:r>
            <a:endParaRPr lang="en-US" sz="2200" dirty="0"/>
          </a:p>
        </p:txBody>
      </p:sp>
      <p:sp>
        <p:nvSpPr>
          <p:cNvPr id="45" name="Text 43"/>
          <p:cNvSpPr/>
          <p:nvPr/>
        </p:nvSpPr>
        <p:spPr>
          <a:xfrm>
            <a:off x="5495544" y="3319272"/>
            <a:ext cx="1600200" cy="548640"/>
          </a:xfrm>
          <a:prstGeom prst="rect">
            <a:avLst/>
          </a:prstGeom>
          <a:noFill/>
        </p:spPr>
        <p:txBody>
          <a:bodyPr wrap="square" lIns="0" tIns="0" rIns="0" bIns="0" rtlCol="0" anchor="ctr"/>
          <a:lstStyle/>
          <a:p>
            <a:pPr marL="0" indent="0" algn="ctr">
              <a:buNone/>
            </a:pPr>
            <a:r>
              <a:rPr lang="en-US" sz="1050" b="1" dirty="0">
                <a:solidFill>
                  <a:srgbClr val="FFFFFF"/>
                </a:solidFill>
              </a:rPr>
              <a:t>Deployment</a:t>
            </a:r>
            <a:endParaRPr lang="en-US" sz="1050" dirty="0"/>
          </a:p>
        </p:txBody>
      </p:sp>
      <p:sp>
        <p:nvSpPr>
          <p:cNvPr id="46" name="Text 44"/>
          <p:cNvSpPr/>
          <p:nvPr/>
        </p:nvSpPr>
        <p:spPr>
          <a:xfrm>
            <a:off x="5495544" y="3931920"/>
            <a:ext cx="1600200" cy="548640"/>
          </a:xfrm>
          <a:prstGeom prst="rect">
            <a:avLst/>
          </a:prstGeom>
          <a:noFill/>
        </p:spPr>
        <p:txBody>
          <a:bodyPr wrap="square" lIns="0" tIns="0" rIns="0" bIns="0" rtlCol="0" anchor="ctr"/>
          <a:lstStyle/>
          <a:p>
            <a:pPr marL="0" indent="0" algn="ctr">
              <a:buNone/>
            </a:pPr>
            <a:r>
              <a:rPr lang="en-US" sz="750" dirty="0">
                <a:solidFill>
                  <a:srgbClr val="FFFFFF"/>
                </a:solidFill>
              </a:rPr>
              <a:t>K8s + Cloud + CI/CD</a:t>
            </a:r>
            <a:endParaRPr lang="en-US" sz="750" dirty="0"/>
          </a:p>
        </p:txBody>
      </p:sp>
      <p:sp>
        <p:nvSpPr>
          <p:cNvPr id="47" name="Shape 45"/>
          <p:cNvSpPr/>
          <p:nvPr/>
        </p:nvSpPr>
        <p:spPr>
          <a:xfrm>
            <a:off x="228600" y="4617720"/>
            <a:ext cx="8686800" cy="411480"/>
          </a:xfrm>
          <a:prstGeom prst="rect">
            <a:avLst/>
          </a:prstGeom>
          <a:solidFill>
            <a:srgbClr val="F39C12"/>
          </a:solidFill>
        </p:spPr>
      </p:sp>
      <p:sp>
        <p:nvSpPr>
          <p:cNvPr id="48" name="Text 46"/>
          <p:cNvSpPr/>
          <p:nvPr/>
        </p:nvSpPr>
        <p:spPr>
          <a:xfrm>
            <a:off x="320040" y="4626864"/>
            <a:ext cx="8503920" cy="393192"/>
          </a:xfrm>
          <a:prstGeom prst="rect">
            <a:avLst/>
          </a:prstGeom>
          <a:noFill/>
        </p:spPr>
        <p:txBody>
          <a:bodyPr wrap="square" lIns="0" tIns="0" rIns="0" bIns="0" rtlCol="0" anchor="ctr"/>
          <a:lstStyle/>
          <a:p>
            <a:pPr marL="0" indent="0" algn="ctr">
              <a:buNone/>
            </a:pPr>
            <a:r>
              <a:rPr lang="en-US" sz="1000" b="1" dirty="0">
                <a:solidFill>
                  <a:srgbClr val="0D1B2A"/>
                </a:solidFill>
              </a:rPr>
              <a:t>Invoice Approved → Payment Triggered → Vendor Notified → Audit Log Created → Dashboard Updated — all AUTOMATICALLY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1731</Words>
  <Application>WPS Presentation</Application>
  <PresentationFormat>On-screen Show (16:9)</PresentationFormat>
  <Paragraphs>110</Paragraphs>
  <Slides>6</Slides>
  <Notes>17</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5</vt:i4>
      </vt:variant>
      <vt:variant>
        <vt:lpstr>幻灯片标题</vt:lpstr>
      </vt:variant>
      <vt:variant>
        <vt:i4>6</vt:i4>
      </vt:variant>
    </vt:vector>
  </HeadingPairs>
  <TitlesOfParts>
    <vt:vector size="19" baseType="lpstr">
      <vt:lpstr>Arial</vt:lpstr>
      <vt:lpstr>SimSun</vt:lpstr>
      <vt:lpstr>Wingdings</vt:lpstr>
      <vt:lpstr>Calibri</vt:lpstr>
      <vt:lpstr>Microsoft YaHei</vt:lpstr>
      <vt:lpstr>Arial Unicode MS</vt:lpstr>
      <vt:lpstr>Office Theme</vt:lpstr>
      <vt:lpstr>1_Office Theme</vt:lpstr>
      <vt:lpstr>Word.Document.12</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ClearView - P2P Invoice Reconciliation</dc:title>
  <dc:creator>PptxGenJS</dc:creator>
  <dc:subject>PptxGenJS Presentation</dc:subject>
  <cp:lastModifiedBy>learn code</cp:lastModifiedBy>
  <cp:revision>18</cp:revision>
  <dcterms:created xsi:type="dcterms:W3CDTF">2026-04-20T09:55:00Z</dcterms:created>
  <dcterms:modified xsi:type="dcterms:W3CDTF">2026-05-04T11:58:14Z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22BBAFAB40584DFC9F4A6D61492D682D_13</vt:lpwstr>
  </property>
</Properties>
</file>